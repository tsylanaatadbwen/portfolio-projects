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6" r:id="rId13"/>
    <p:sldId id="271" r:id="rId14"/>
    <p:sldId id="269" r:id="rId15"/>
    <p:sldId id="270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F4F"/>
    <a:srgbClr val="1F2F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3DDE9-5F87-49E4-AEFF-38826FAB44A2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E22B7-BE3C-459E-845B-D59B4C56540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807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E22B7-BE3C-459E-845B-D59B4C56540B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204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E22B7-BE3C-459E-845B-D59B4C56540B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1589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8AD4-3655-8072-0B31-5E56AC0DB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175AC-5B2C-CF8F-17EF-0C9C42497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E2EDA-E7A1-C3A5-D344-DD2814D5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11BE3-97B5-C2A9-139B-5D2B104D1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B8D29-90AA-2FD3-5E97-CF993F05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51542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E8C4-242E-E691-8E8B-637A5540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303ED-B14D-3E1A-3DB9-6FA2ADEB5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6A51E-8FA9-CD92-D9EA-3E4B7EF14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80B7C-C5E8-5D5D-B701-10346261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C1727-E9BC-4C0E-244A-2F164627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479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48325-EAB2-BE1D-98D6-61C8F473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1B639-F023-67DD-1660-3F56E1089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D3247-3FF6-2469-FF54-045CAE73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CE3C9-77EE-7DF7-297D-572B529B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B167A-2EEE-F8AD-110A-7553AA9E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295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A1CE-9E32-2900-8B31-4C7B9D39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1DA15-2F38-8FA2-A904-F2BD9251D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9C265-3C19-4183-5420-D8BBEE658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00AE2-2B0D-E349-1D8B-38E54BAB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C04C2-B0A3-3844-C45C-ECFADF10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D2718-C1B3-98E1-E074-44AD3780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377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319A-F03B-D921-FCE2-9F722C21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044D9-A5F0-04B0-251B-4E7990A8B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4A061-0125-F80C-D5FF-03F734F5E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A1C15-C2E4-A39F-3432-34F23225B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1F5D5-C829-52CA-5163-4417354A9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81EF0A-0F2E-5513-4AE4-CADE6D3B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F68FB-83FC-A0A9-A067-5E50155B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7F27B5-9D84-78DB-4729-117A18C6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508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F517-F489-550B-CEC1-9B7DA236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B3E2B-D090-0835-437C-154791D1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4F795-47C2-C7FC-D791-B55BAA87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2F2FC-6802-BC07-85BE-B2F7A7F0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592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F9DC4B-4DCB-1C58-D5C9-5529F8AF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EA851-92E5-8811-41DD-3C3CCCEA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B4EE0-74E2-ECC4-5D23-60798960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78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62FE-228E-512E-FEEC-D08821239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26D9-C90C-6104-2905-1331B580B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A91F9-7941-513C-CFF2-D3CC553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73536-418B-652D-ADB8-A44CBF47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EACB8-EB20-4E13-5C4B-EDC0B792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26EA5-5862-0705-DCFC-AAE384FE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4412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EBBA-B671-7F5A-33D2-829A1A099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DC110-EED1-C162-8A88-86465FFA2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5DD15-063D-2287-0E2F-2A5532F7C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7BFF4-9E3A-91E4-22DF-334F2094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8A0EA-1D73-29FD-1F0A-E4F2E4DD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00219-6551-54E5-9446-566FBA09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73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E114-3188-35E3-F02D-FB1970E0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47916-DA90-2968-538C-8755FB723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5EA96-B233-AE1F-8AFD-3EFD174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99590-A102-A730-555F-5D721C4A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DF112-FC0B-F98C-376D-40F73137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096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2ED78-2FDE-D7CA-1795-5DF29BDD5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307DD-0AEA-73A4-C11D-E81B6B84F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41EC9-B329-2822-2196-CED1A821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4307E-5BEB-D5C9-5DD7-1DC28711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86117-7834-D835-FBA3-9A94E799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355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991CE-E789-AB3F-AD4E-9513411E5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7D9FD-4C35-B504-F296-999C115BD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8AEFE-7F24-1BBA-FD5E-86CE1391E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CDBEC-F1B6-4BA8-A4A1-5C1F37B6DA75}" type="datetimeFigureOut">
              <a:rPr lang="en-PK" smtClean="0"/>
              <a:t>01/12/2025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B9AC9-B034-851C-9706-786434D9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04EBD-1ADE-A8F7-973A-BC606BE22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492A7-6118-4D12-AB50-4E4E1B63218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7571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34B1-197B-3095-06B7-9C7717F9C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660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Airbnb Revenue &amp; Pricing Analysis</a:t>
            </a:r>
            <a:endParaRPr lang="en-PK" sz="4400" b="1" dirty="0">
              <a:solidFill>
                <a:schemeClr val="tx2">
                  <a:lumMod val="90000"/>
                  <a:lumOff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3BE73-A900-3E31-15A9-4F31EEE94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4203"/>
            <a:ext cx="9505071" cy="156847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4F4F4F"/>
                </a:solidFill>
              </a:rPr>
              <a:t>Analytical Presentation: Power BI, DAX &amp; Data Modeling</a:t>
            </a:r>
          </a:p>
          <a:p>
            <a:pPr algn="l"/>
            <a:r>
              <a:rPr lang="en-US" sz="2000" dirty="0">
                <a:solidFill>
                  <a:srgbClr val="4F4F4F"/>
                </a:solidFill>
              </a:rPr>
              <a:t>Presented by: Syed Usama Ali</a:t>
            </a:r>
            <a:endParaRPr lang="en-PK" sz="2000" dirty="0">
              <a:solidFill>
                <a:srgbClr val="4F4F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8473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FAAE-99B5-4844-A013-C11F6D50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1F2F5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Business Problem</a:t>
            </a:r>
            <a:endParaRPr lang="en-PK" sz="3200" dirty="0">
              <a:solidFill>
                <a:srgbClr val="1F2F5D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C7150-E88C-4B35-BEEC-A1AE70E55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83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goal of this analysis is to understand: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Which global markets generate the highest Airbnb revenue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pricing affects overall demand and listing performance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Which price ranges (buckets) drive the most volume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revenue is distributed across major regions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strategic recommendations can improve revenue</a:t>
            </a:r>
          </a:p>
        </p:txBody>
      </p:sp>
    </p:spTree>
    <p:extLst>
      <p:ext uri="{BB962C8B-B14F-4D97-AF65-F5344CB8AC3E}">
        <p14:creationId xmlns:p14="http://schemas.microsoft.com/office/powerpoint/2010/main" val="383124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35F6-4C7D-4921-8C86-F7157605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1F2F5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Dataset Overview</a:t>
            </a:r>
            <a:endParaRPr lang="en-PK" sz="3200" dirty="0">
              <a:solidFill>
                <a:srgbClr val="1F2F5D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2818-AD60-4F87-B581-0CA465A1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07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Source: Kaggle Airbnb Hotel &amp; Site Listings Dataset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Records: 86,186 listings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Geographic Coverage: North America, Europe, Asia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Fields: Price, Sales, Reviews, Room Type, City</a:t>
            </a:r>
            <a:r>
              <a:rPr lang="en-US" sz="200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Region</a:t>
            </a:r>
            <a:endParaRPr lang="en-US" sz="20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 Span: Multi-year aggregated listing dataset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Granularity: Each row represents a single property listing</a:t>
            </a:r>
            <a:endParaRPr lang="en-PK" sz="20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34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5B77-4463-46AF-9D3E-2A64E407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1F2F5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Data Cleaning &amp; Preparation (ETL)</a:t>
            </a:r>
            <a:endParaRPr lang="en-PK" sz="3200" dirty="0">
              <a:solidFill>
                <a:srgbClr val="1F2F5D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2DC53-5A4F-4464-A5DD-5ADC7E71B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Standardized column names using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snake_case</a:t>
            </a:r>
            <a:endParaRPr lang="en-US" sz="20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Removed irrelevant fields (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host_details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identifiers, unused metrics)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Fixed incorrect region mapping (Sydney -&gt; Australia)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Handled missing values: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– Imputed missing prices using city-level median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Created clean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room_type_label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from coded values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Converted data types (price, sales, dates, categories)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Ensured consistency for modeling (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host_id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location_ID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room_ID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en-PK" sz="20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44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68C5-31E4-4032-9991-48C8AA55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1F2F5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ETL Process Overview</a:t>
            </a:r>
            <a:br>
              <a:rPr lang="en-US" sz="3200" dirty="0">
                <a:solidFill>
                  <a:srgbClr val="1F2F5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</a:b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Extract → Transform → Load</a:t>
            </a:r>
            <a:endParaRPr lang="en-PK" sz="2400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C7E77-29E9-494E-A36E-0576D8EA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1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Extract: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Imported the raw dataset from Kaggle in CSV format and loaded it into Power BI for initial preprocessing.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Transform: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Cleaned and standardized all fields using Power Query, handled missing values, corrected incorrect region assignments, created the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room_type_label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field, generated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location_ID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and ensured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host_ID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consistency. Prepared all dimensional attributes required for modeling.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Load: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Loaded the cleaned tables into the Power BI data model, created the fact and dimension tables, and established model relationships using surrogate keys.</a:t>
            </a:r>
          </a:p>
        </p:txBody>
      </p:sp>
    </p:spTree>
    <p:extLst>
      <p:ext uri="{BB962C8B-B14F-4D97-AF65-F5344CB8AC3E}">
        <p14:creationId xmlns:p14="http://schemas.microsoft.com/office/powerpoint/2010/main" val="3807100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8107-7F4C-493A-AA27-A5CC5DB2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F2F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Model (Star Schema Design)</a:t>
            </a:r>
            <a:endParaRPr lang="en-PK" b="1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AE086F2-776A-49AE-BE22-53D84954E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889" y="1790195"/>
            <a:ext cx="5172077" cy="3881438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8D98A8-4537-410A-AF75-C52F79520E08}"/>
              </a:ext>
            </a:extLst>
          </p:cNvPr>
          <p:cNvSpPr txBox="1"/>
          <p:nvPr/>
        </p:nvSpPr>
        <p:spPr>
          <a:xfrm>
            <a:off x="838199" y="1454151"/>
            <a:ext cx="5172076" cy="4274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Fact Table: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Fact_Listings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containing price, sales, reviews, capacity, and calculated measures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Dimension Tables: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Dim_Location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City and Region attributes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Dim_Host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Host-level details and metadata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Dim_Room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Room type classifications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Relationships: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One-to-Many from each dimension to the fact table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Keys used: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location_ID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host_id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000" dirty="0" err="1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room_ID</a:t>
            </a:r>
            <a:endParaRPr lang="en-US" sz="20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87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411D-23C9-4B85-8587-260BD9CA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F2F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DAX Measures Used in the Analysis</a:t>
            </a:r>
            <a:endParaRPr lang="en-PK" sz="3200" b="1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BFEF6-5D49-42B1-89FA-5E766331C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Total Revenue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 	Sum of all property-level sales values used to rank markets and regions.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Total Listings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 	Count of all Airbnb listings after cleaning and transformation.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Average Price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 	Average nightly price per listing across all markets.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Average Revenue per Listing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 	Revenue efficiency metric showing how much each listing generates on average.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Price Buckets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 	Custom groups like Under $100, $100–150, $151–200, etc., used for segmentation.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Region-Level Revenue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 	Aggregated revenue by region to identify global performance patterns.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Room Type Distribution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 	Counts and revenue split by Entire Home, Private Room, and Hotel Room.</a:t>
            </a:r>
          </a:p>
        </p:txBody>
      </p:sp>
    </p:spTree>
    <p:extLst>
      <p:ext uri="{BB962C8B-B14F-4D97-AF65-F5344CB8AC3E}">
        <p14:creationId xmlns:p14="http://schemas.microsoft.com/office/powerpoint/2010/main" val="1453851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308-A1F3-409B-9616-962929DD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1F2F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Overall Revenue Performance</a:t>
            </a:r>
            <a:endParaRPr lang="en-PK" sz="3200" b="1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885DD-0523-4519-881D-10FD31E577EC}"/>
              </a:ext>
            </a:extLst>
          </p:cNvPr>
          <p:cNvSpPr txBox="1"/>
          <p:nvPr/>
        </p:nvSpPr>
        <p:spPr>
          <a:xfrm>
            <a:off x="838200" y="2866107"/>
            <a:ext cx="4953000" cy="182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Revenue: </a:t>
            </a:r>
            <a:r>
              <a:rPr lang="en-US" sz="24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$3.07bn</a:t>
            </a:r>
            <a:b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 Listings:</a:t>
            </a:r>
            <a:r>
              <a:rPr lang="en-US" sz="24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$86K</a:t>
            </a:r>
            <a:b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Average Price: </a:t>
            </a:r>
            <a:r>
              <a:rPr lang="en-US" sz="24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$201</a:t>
            </a:r>
            <a:b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 per Property: </a:t>
            </a:r>
            <a:r>
              <a:rPr lang="en-US" sz="24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$35.59K</a:t>
            </a:r>
            <a:endParaRPr lang="en-PK" sz="24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D5F71A-46EC-4493-8E82-C6CD5E80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33" y="1511969"/>
            <a:ext cx="6614733" cy="8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83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A466-F425-43EE-B59E-DB8C5EFE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1F2F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 Distribution by Region</a:t>
            </a:r>
            <a:endParaRPr lang="en-PK" sz="3200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71A13C-5AD1-422E-A375-37AB447E7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162" y="1448903"/>
            <a:ext cx="7801627" cy="438039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49343E-21F2-4C47-8DFB-CC59D9CE6456}"/>
              </a:ext>
            </a:extLst>
          </p:cNvPr>
          <p:cNvSpPr txBox="1"/>
          <p:nvPr/>
        </p:nvSpPr>
        <p:spPr>
          <a:xfrm>
            <a:off x="745834" y="5953124"/>
            <a:ext cx="1044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Europe contributes the largest share of global Airbnb revenue, followed by Asia, North America, and Australia.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76210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783B-8803-45EA-B8C9-A727A76D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2F5D"/>
                </a:solidFill>
              </a:rPr>
              <a:t>Top 5 Global Markets by Revenue</a:t>
            </a:r>
            <a:endParaRPr lang="en-PK" dirty="0">
              <a:solidFill>
                <a:srgbClr val="1F2F5D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39EA3F2-39EB-4CF8-8C30-498AAEB52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922" y="1339850"/>
            <a:ext cx="7733206" cy="4351338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301464-E06E-4BF5-A006-1D2CA7D68B57}"/>
              </a:ext>
            </a:extLst>
          </p:cNvPr>
          <p:cNvSpPr txBox="1"/>
          <p:nvPr/>
        </p:nvSpPr>
        <p:spPr>
          <a:xfrm>
            <a:off x="838200" y="5691188"/>
            <a:ext cx="7839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Sydney, Toronto, Tokyo, Amsterdam, and New York generate the highest Airbnb revenue globally, with Sydney significantly outperforming the rest.</a:t>
            </a:r>
            <a:endParaRPr lang="en-PK" sz="20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013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AFAF-4704-421B-9A36-6EBED66F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1F2F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Market Segmentation by Price Range</a:t>
            </a:r>
            <a:endParaRPr lang="en-PK" sz="3200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C3E7E1-7579-4F34-A59C-6976FA2F5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08" y="1528763"/>
            <a:ext cx="7317818" cy="409408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F6451A-8F3F-426F-92AD-C971DE6F67E9}"/>
              </a:ext>
            </a:extLst>
          </p:cNvPr>
          <p:cNvSpPr txBox="1"/>
          <p:nvPr/>
        </p:nvSpPr>
        <p:spPr>
          <a:xfrm>
            <a:off x="838200" y="6029324"/>
            <a:ext cx="10220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majority of Airbnb listings are priced under $150, with the ‘Under $100’ category dominating the market. Listing volume drops sharply once prices exceed $300.</a:t>
            </a:r>
            <a:endParaRPr lang="en-PK" sz="20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12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3942-58B3-415C-83CE-998264D0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Pricing Strategy: Volume vs Demand</a:t>
            </a:r>
            <a:endParaRPr lang="en-PK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8C05AA-98A4-405D-8E38-C373B6034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201" y="1473200"/>
            <a:ext cx="775119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CCB360-25C8-4B61-B68D-8BA06C0BE627}"/>
              </a:ext>
            </a:extLst>
          </p:cNvPr>
          <p:cNvSpPr txBox="1"/>
          <p:nvPr/>
        </p:nvSpPr>
        <p:spPr>
          <a:xfrm>
            <a:off x="1057275" y="5916950"/>
            <a:ext cx="9544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Mid-range prices ($151–200) show a strong balance of high demand and solid revenue, while very high prices ($501–1000+) show steep drop-offs in demand.</a:t>
            </a:r>
            <a:endParaRPr lang="en-PK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894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FA09-573E-47FB-DD0B-28755B505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1F2F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Strategic Recommendations</a:t>
            </a:r>
            <a:endParaRPr lang="en-PK" sz="3200" b="1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F5A973-09F3-91A5-34ED-BCA40F4D1F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1208"/>
            <a:ext cx="9078310" cy="375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 more in high-revenue cities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such as Sydney, Toronto, Tokyo, Amsterdam, and New York.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Optimize pricing around the $151–200 range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which has the strongest balance of demand and revenue.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Increase supply in the $100–200 price buckets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where market volume and customer demand are highest.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Reduce reliance on high-end ($500+) listings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which show very low demand and low occupancy.</a:t>
            </a:r>
            <a:b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US" sz="2000" b="1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Prioritize expansion in Europe and Asia</a:t>
            </a:r>
            <a:r>
              <a:rPr lang="en-US" sz="20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the highest-revenue and highest-potential regions.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rgbClr val="4F4F4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364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149E-BC53-40B9-9982-F0D320E6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98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F2F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  <a:endParaRPr lang="en-PK" sz="3200" b="1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3CC8A-138E-421E-8C4D-653BA2ED2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7546"/>
            <a:ext cx="10213428" cy="3742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Pricing, demand, and revenue are tightly connected</a:t>
            </a:r>
            <a:b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Mid-priced listings outperform all other segments</a:t>
            </a:r>
            <a:b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Europe and Asia generate the highest revenue globally</a:t>
            </a:r>
            <a:b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Mid-tier pricing consistently delivers optimal results</a:t>
            </a:r>
            <a:br>
              <a:rPr lang="en-US" sz="2400" dirty="0">
                <a:solidFill>
                  <a:srgbClr val="4F4F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400" dirty="0">
              <a:solidFill>
                <a:srgbClr val="4F4F4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16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7A7E2C-A418-88FB-3877-EF613848134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>
                <a:solidFill>
                  <a:srgbClr val="1F2F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Q&amp;A</a:t>
            </a:r>
            <a:endParaRPr lang="en-PK" sz="3200" dirty="0">
              <a:solidFill>
                <a:srgbClr val="1F2F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90C05D-A13A-6FA2-4F87-524B81FE0A68}"/>
              </a:ext>
            </a:extLst>
          </p:cNvPr>
          <p:cNvSpPr txBox="1">
            <a:spLocks/>
          </p:cNvSpPr>
          <p:nvPr/>
        </p:nvSpPr>
        <p:spPr>
          <a:xfrm>
            <a:off x="838200" y="31511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Thank you. Happy to answer any questions.</a:t>
            </a:r>
            <a:endParaRPr lang="en-PK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60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</TotalTime>
  <Words>865</Words>
  <Application>Microsoft Office PowerPoint</Application>
  <PresentationFormat>Widescreen</PresentationFormat>
  <Paragraphs>60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Segoe UI</vt:lpstr>
      <vt:lpstr>Segoe UI Bold</vt:lpstr>
      <vt:lpstr>Office Theme</vt:lpstr>
      <vt:lpstr>Airbnb Revenue &amp; Pricing Analysis</vt:lpstr>
      <vt:lpstr>Business Problem</vt:lpstr>
      <vt:lpstr>Dataset Overview</vt:lpstr>
      <vt:lpstr>Data Cleaning &amp; Preparation (ETL)</vt:lpstr>
      <vt:lpstr>ETL Process Overview Extract → Transform → Load</vt:lpstr>
      <vt:lpstr>Data Model (Star Schema Design)</vt:lpstr>
      <vt:lpstr>Key DAX Measures Used in the Analysis</vt:lpstr>
      <vt:lpstr>Overall Revenue Performance</vt:lpstr>
      <vt:lpstr>Revenue Distribution by Region</vt:lpstr>
      <vt:lpstr>Top 5 Global Markets by Revenue</vt:lpstr>
      <vt:lpstr>Market Segmentation by Price Range</vt:lpstr>
      <vt:lpstr>Pricing Strategy: Volume vs Demand</vt:lpstr>
      <vt:lpstr>Strategic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Revenue &amp; Pricing Analysis</dc:title>
  <dc:creator>usama ali</dc:creator>
  <cp:lastModifiedBy>usama ali</cp:lastModifiedBy>
  <cp:revision>243</cp:revision>
  <dcterms:created xsi:type="dcterms:W3CDTF">2025-11-16T02:48:22Z</dcterms:created>
  <dcterms:modified xsi:type="dcterms:W3CDTF">2025-11-30T21:55:53Z</dcterms:modified>
</cp:coreProperties>
</file>